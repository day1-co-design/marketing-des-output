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584c101e7c4b85" /><Relationship Type="http://schemas.openxmlformats.org/officeDocument/2006/relationships/extended-properties" Target="/docProps/app.xml" Id="Rb18aecc27b904a71" /><Relationship Type="http://schemas.openxmlformats.org/officeDocument/2006/relationships/officeDocument" Target="/ppt/presentation.xml" Id="R95297404c3a548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0db8cf8a6e4857"/>
  </p:sldMasterIdLst>
  <p:notesMasterIdLst>
    <p:notesMasterId xmlns:r="http://schemas.openxmlformats.org/officeDocument/2006/relationships" r:id="R3f18e78f635341df"/>
  </p:notesMasterIdLst>
  <p:sldIdLst>
    <p:sldId xmlns:r="http://schemas.openxmlformats.org/officeDocument/2006/relationships" id="256" r:id="R4578fec99cec4952"/>
    <p:sldId xmlns:r="http://schemas.openxmlformats.org/officeDocument/2006/relationships" id="257" r:id="Re88bf07aa0d24cac"/>
    <p:sldId xmlns:r="http://schemas.openxmlformats.org/officeDocument/2006/relationships" id="258" r:id="R26f921f891794324"/>
    <p:sldId xmlns:r="http://schemas.openxmlformats.org/officeDocument/2006/relationships" id="259" r:id="R662b10b5e14b47e3"/>
    <p:sldId xmlns:r="http://schemas.openxmlformats.org/officeDocument/2006/relationships" id="260" r:id="R1c86d2a5e5c44976"/>
    <p:sldId xmlns:r="http://schemas.openxmlformats.org/officeDocument/2006/relationships" id="261" r:id="R9d3f10b6cb0d4806"/>
    <p:sldId xmlns:r="http://schemas.openxmlformats.org/officeDocument/2006/relationships" id="262" r:id="Re0b33bdea71c4ed3"/>
    <p:sldId xmlns:r="http://schemas.openxmlformats.org/officeDocument/2006/relationships" id="263" r:id="Rde3fe2ed85da4863"/>
    <p:sldId xmlns:r="http://schemas.openxmlformats.org/officeDocument/2006/relationships" id="264" r:id="R07b358fdaa474f7c"/>
    <p:sldId xmlns:r="http://schemas.openxmlformats.org/officeDocument/2006/relationships" id="265" r:id="R0ae1865da79f440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db8cf8a6e4857" /><Relationship Type="http://schemas.openxmlformats.org/officeDocument/2006/relationships/theme" Target="/ppt/theme/theme1.xml" Id="R9c564dd8dbc34b3a" /><Relationship Type="http://schemas.openxmlformats.org/officeDocument/2006/relationships/notesMaster" Target="/ppt/notesMasters/notesMaster1.xml" Id="R3f18e78f635341df" /><Relationship Type="http://schemas.openxmlformats.org/officeDocument/2006/relationships/presProps" Target="/ppt/presProps.xml" Id="R6e239d3ff3354a04" /><Relationship Type="http://schemas.openxmlformats.org/officeDocument/2006/relationships/viewProps" Target="/ppt/viewProps.xml" Id="Rd490ce8a15724ade" /><Relationship Type="http://schemas.openxmlformats.org/officeDocument/2006/relationships/tableStyles" Target="/ppt/tableStyles.xml" Id="R9088dc3735c14abd" /><Relationship Type="http://schemas.openxmlformats.org/officeDocument/2006/relationships/slide" Target="/ppt/slides/slide1.xml" Id="R4578fec99cec4952" /><Relationship Type="http://schemas.openxmlformats.org/officeDocument/2006/relationships/slide" Target="/ppt/slides/slide2.xml" Id="Re88bf07aa0d24cac" /><Relationship Type="http://schemas.openxmlformats.org/officeDocument/2006/relationships/slide" Target="/ppt/slides/slide3.xml" Id="R26f921f891794324" /><Relationship Type="http://schemas.openxmlformats.org/officeDocument/2006/relationships/slide" Target="/ppt/slides/slide4.xml" Id="R662b10b5e14b47e3" /><Relationship Type="http://schemas.openxmlformats.org/officeDocument/2006/relationships/slide" Target="/ppt/slides/slide5.xml" Id="R1c86d2a5e5c44976" /><Relationship Type="http://schemas.openxmlformats.org/officeDocument/2006/relationships/slide" Target="/ppt/slides/slide6.xml" Id="R9d3f10b6cb0d4806" /><Relationship Type="http://schemas.openxmlformats.org/officeDocument/2006/relationships/slide" Target="/ppt/slides/slide7.xml" Id="Re0b33bdea71c4ed3" /><Relationship Type="http://schemas.openxmlformats.org/officeDocument/2006/relationships/slide" Target="/ppt/slides/slide8.xml" Id="Rde3fe2ed85da4863" /><Relationship Type="http://schemas.openxmlformats.org/officeDocument/2006/relationships/slide" Target="/ppt/slides/slide9.xml" Id="R07b358fdaa474f7c" /><Relationship Type="http://schemas.openxmlformats.org/officeDocument/2006/relationships/slide" Target="/ppt/slides/slide10.xml" Id="R0ae1865da79f44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86acec0459b45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13fc7b9d2f4d6d" /><Relationship Type="http://schemas.openxmlformats.org/officeDocument/2006/relationships/notesMaster" Target="/ppt/notesMasters/notesMaster1.xml" Id="Re6f623ca2c7444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4757c4143e4d15" /><Relationship Type="http://schemas.openxmlformats.org/officeDocument/2006/relationships/notesMaster" Target="/ppt/notesMasters/notesMaster1.xml" Id="R2825cab52e5948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ec1798896d4ef2" /><Relationship Type="http://schemas.openxmlformats.org/officeDocument/2006/relationships/notesMaster" Target="/ppt/notesMasters/notesMaster1.xml" Id="Ra1ae84ef7c5d40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dbd76448f44060" /><Relationship Type="http://schemas.openxmlformats.org/officeDocument/2006/relationships/notesMaster" Target="/ppt/notesMasters/notesMaster1.xml" Id="Rdb7f82fd774f4c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6d473f79854040" /><Relationship Type="http://schemas.openxmlformats.org/officeDocument/2006/relationships/notesMaster" Target="/ppt/notesMasters/notesMaster1.xml" Id="Ra64e05e0575048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99b1f2494c48cf" /><Relationship Type="http://schemas.openxmlformats.org/officeDocument/2006/relationships/notesMaster" Target="/ppt/notesMasters/notesMaster1.xml" Id="R7aa898cbbf4a45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64cb421673408c" /><Relationship Type="http://schemas.openxmlformats.org/officeDocument/2006/relationships/notesMaster" Target="/ppt/notesMasters/notesMaster1.xml" Id="R3c5f326811bf43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01e79409e640cd" /><Relationship Type="http://schemas.openxmlformats.org/officeDocument/2006/relationships/notesMaster" Target="/ppt/notesMasters/notesMaster1.xml" Id="Rb52c2452c13e41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78e8d9a1464eb3" /><Relationship Type="http://schemas.openxmlformats.org/officeDocument/2006/relationships/notesMaster" Target="/ppt/notesMasters/notesMaster1.xml" Id="R67638ae04af644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49ba49dd964ae7" /><Relationship Type="http://schemas.openxmlformats.org/officeDocument/2006/relationships/notesMaster" Target="/ppt/notesMasters/notesMaster1.xml" Id="R2ae0748b6efe40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fd8de292c40a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abe50a49e674054" /><Relationship Type="http://schemas.openxmlformats.org/officeDocument/2006/relationships/slideLayout" Target="/ppt/slideLayouts/slideLayout2.xml" Id="Rc1d164c4da0c41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d164c4da0c41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92c920e1e247cc" /><Relationship Type="http://schemas.openxmlformats.org/officeDocument/2006/relationships/notesSlide" Target="/ppt/notesSlides/notesSlide1.xml" Id="R09aebf80f1e541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35d59c7e7047fd" /><Relationship Type="http://schemas.openxmlformats.org/officeDocument/2006/relationships/notesSlide" Target="/ppt/notesSlides/notesSlide2.xml" Id="R3de24cfbd7c54f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3455dbf0594e3c" /><Relationship Type="http://schemas.openxmlformats.org/officeDocument/2006/relationships/image" Target="/ppt/media/image.png" Id="R58280ab2ed604e5d" /><Relationship Type="http://schemas.openxmlformats.org/officeDocument/2006/relationships/image" Target="/ppt/media/image2.png" Id="R37ca6bc07b7d4d60" /><Relationship Type="http://schemas.openxmlformats.org/officeDocument/2006/relationships/image" Target="/ppt/media/image3.png" Id="Rbc67a6c80f854b9c" /><Relationship Type="http://schemas.openxmlformats.org/officeDocument/2006/relationships/notesSlide" Target="/ppt/notesSlides/notesSlide3.xml" Id="R434ed1213a12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8dcc6d05544382" /><Relationship Type="http://schemas.openxmlformats.org/officeDocument/2006/relationships/notesSlide" Target="/ppt/notesSlides/notesSlide4.xml" Id="Rc43e6e5a45cb43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3e98cfaf054381" /><Relationship Type="http://schemas.openxmlformats.org/officeDocument/2006/relationships/notesSlide" Target="/ppt/notesSlides/notesSlide5.xml" Id="R95090b9dc6e249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a5db8b4cd6425d" /><Relationship Type="http://schemas.openxmlformats.org/officeDocument/2006/relationships/notesSlide" Target="/ppt/notesSlides/notesSlide6.xml" Id="R4d10883aff1f4b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88da422bd14ee8" /><Relationship Type="http://schemas.openxmlformats.org/officeDocument/2006/relationships/notesSlide" Target="/ppt/notesSlides/notesSlide7.xml" Id="R9aeaf2c682774b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c4741255bb4f8e" /><Relationship Type="http://schemas.openxmlformats.org/officeDocument/2006/relationships/notesSlide" Target="/ppt/notesSlides/notesSlide8.xml" Id="R745143ef923c4c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431a9b4a3d4c4a" /><Relationship Type="http://schemas.openxmlformats.org/officeDocument/2006/relationships/notesSlide" Target="/ppt/notesSlides/notesSlide9.xml" Id="R82b0dff3e28d40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39f0517ea14218" /><Relationship Type="http://schemas.openxmlformats.org/officeDocument/2006/relationships/notesSlide" Target="/ppt/notesSlides/notesSlide10.xml" Id="R12789bc930be4d5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E66DE2-E0B8-4D64-B6A0-D6E37681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17211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28FAC-08DC-4FDA-A58C-D14AA00E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172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156DF-CDD7-4545-B3CB-B9EC49E4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0"/>
            <a:ext cx="4438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22C"/>
          </a:solidFill>
          <a:ln xmlns:a="http://schemas.openxmlformats.org/drawingml/2006/main" w="0">
            <a:solidFill>
              <a:srgbClr val="22322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3A63F-08EE-4728-934F-C0E7BF77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04850"/>
            <a:ext cx="26479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799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29512-E583-4841-8C38-FB20FC7C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4900"/>
            <a:ext cx="26479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4E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13131-7CD4-458B-A2FA-0F90E7DF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005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5D"/>
          </a:solidFill>
          <a:ln xmlns:a="http://schemas.openxmlformats.org/drawingml/2006/main" w="0">
            <a:solidFill>
              <a:srgbClr val="53645D"/>
            </a:solidFill>
            <a:prstDash val="solid"/>
          </a:ln>
        </p:spPr>
      </p:sp>
      <p:sp>
        <p:nvSpPr>
          <p:cNvPr id="7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416E9263-D53F-494D-B573-A48B0333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solidFill>
              <a:srgbClr val="C7993D"/>
            </a:solidFill>
            <a:prstDash val="solid"/>
          </a:ln>
        </p:spPr>
      </p:sp>
      <p:sp>
        <p:nvSpPr>
          <p:cNvPr id="8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BDE09E93-C153-46D8-A3A7-F123F851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rPr>
              <a:t>GLOBAL OPS STANDARD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D6D0F-C3F7-4B57-964E-BC0CBF78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가이드는 이미 있다.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이제 운영권한을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표준으로 돌릴 때다.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646BC-7F6F-43A1-BE11-FEBD9B09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5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CE5DF"/>
                </a:solidFill>
                <a:latin typeface="Apple SD Gothic Neo"/>
                <a:ea typeface="Apple SD Gothic Neo"/>
                <a:cs typeface="Apple SD Gothic Neo"/>
              </a:rPr>
              <a:t>글로벌 마케팅 디자인 Excellence 및 운영 효율화 제안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3CCBC-D9CD-4EC2-B4CF-67C1779E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638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rPr>
              <a:t>국가별 산출물 선택권을 줄이고, 이미 구축된 Figma 모듈형 가이드와 R&amp;R을</a:t>
            </a:r>
          </a:p>
          <a:p xmlns:a="http://schemas.openxmlformats.org/drawingml/2006/main">
            <a:pPr algn="l">
              <a:defRPr sz="1125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rPr>
              <a:t>전사 운영 정책으로 고정하기 위한 본부장 승인 안건입니다.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5AB0D-05C4-4B3E-BDDB-BC2852E4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solidFill>
              <a:srgbClr val="C799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98E34-ADAD-44FC-B8C0-2F474F29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160개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FB25E-FD54-4FAA-A1E7-324EACC4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rPr>
              <a:t>운영 케이스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2765F-A768-49A1-8342-7D0A172D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rPr>
              <a:t>권역/언어별 실제 운영 중인 케이스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3DB53-69A6-48D6-B874-F26D76F1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3870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52B45-9AAC-4D83-A836-614E3AEB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101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1,819개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18F4F-C34E-4418-A786-74DE39DA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62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rPr>
              <a:t>업무 항목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74473-83AA-4DBB-B322-BA6DA910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293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rPr>
              <a:t>현재 기준에서 디자인팀이 보는 총 대응량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CA25A-1B04-41F8-8461-DB76FDD8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387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A"/>
          </a:solidFill>
          <a:ln xmlns:a="http://schemas.openxmlformats.org/drawingml/2006/main" w="0">
            <a:solidFill>
              <a:srgbClr val="1F6B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739EC-DB1F-45BD-92F2-DA30A2CD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1015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048321-6D09-4072-90AB-A705D337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626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rPr>
              <a:t>완전 공통 케이스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3C196-D97A-4C35-B4FE-9D22BA3C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293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rPr>
              <a:t>현재 상태는 표준이 아니라 예외가 기본값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6DACBC-29B8-4B80-BA7C-2D1DEEA1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76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rPr>
              <a:t>2026.05.13 기준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93E603-C4C8-42E0-A10C-FF16C189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434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Dashboard + Google Sheet R&amp;R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Country Head Decision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9D62FD-1FBD-4273-9D7B-1C2B5D4F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3B"/>
          </a:solidFill>
          <a:ln xmlns:a="http://schemas.openxmlformats.org/drawingml/2006/main" w="0">
            <a:solidFill>
              <a:srgbClr val="3341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DF8B9-A803-4727-B44B-03E5043E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4D2AFD-71A1-41C6-BFE0-E61F5BC7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323894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974066-9A0D-49A4-B4E9-13888B09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F6F7F4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5E675AAB-46D9-4F3E-8BB1-9ACE5D61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D8D79C6D-A2CB-412B-9D91-70833842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AFD75-AA0D-41AA-AFE9-2E0AF11D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이전엔 각자 업데이트로 버텼지만, 이제는 감당 가능한 범위를 넘었다.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EA4B6-611B-4669-8721-D0AAC3C8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사업 다각화와 글로벌 확장으로 예외 흡수 방식이 사람의 기억과 선의에 의존하는 운영 리스크가 됐습니다.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2B6ED-B1CD-4AD0-94DD-535C29B4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844C1-AB2E-4FA5-9181-E68DEEDC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E50BB-C203-43A2-BE85-DD14B3CB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66300-1CCE-48A9-B851-4C35E7BB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1721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0EF3F-7AB9-447E-AE62-EC813656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solidFill>
              <a:srgbClr val="C799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04573-8ED2-45B7-83B4-2200ADEC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160개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EB2B7-7589-40EE-9EA4-ECF51CED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rPr>
              <a:t>운영 스코프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FB4B3-F3F5-4AEE-8A8D-005665DB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rPr>
              <a:t>KR/JP/GL/TW/TH의 실제 운영 케이스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B8E0B-42B4-489D-A2F8-088481B0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05100"/>
            <a:ext cx="257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30E85-421E-4EA7-B186-F0911266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765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1,819개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A5572-C9D4-4B71-BE71-A731030E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rPr>
              <a:t>현행 업무 항목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C0233-D62A-4907-8293-7AF1959F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957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rPr>
              <a:t>보이는 업무량은 이미 패키지보다 예외에 가깝다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A8BEA-770B-4808-985F-43898C90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A"/>
          </a:solidFill>
          <a:ln xmlns:a="http://schemas.openxmlformats.org/drawingml/2006/main" w="0">
            <a:solidFill>
              <a:srgbClr val="1F6B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1AC22-F224-469B-8B09-394535C6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2FAAF-9708-40E4-B73E-8DA781B1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rPr>
              <a:t>완전 공통률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CEBAC8-C142-42CA-A984-6EB14AD4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rPr>
              <a:t>현재 기준에서 5개 권역이 동일하게 닫히는 케이스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7ACC29-7B1D-4FCB-B3A1-8A12915A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051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solidFill>
              <a:srgbClr val="C799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46E68F-5E20-4F6C-99A8-1F771C4F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16개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C9BFAD-85A7-480B-878B-D3B02095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rPr>
              <a:t>확인 필요 케이스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5D9A2D-E71A-43E0-840B-16C392F4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957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rPr>
              <a:t>정책이 없으면 계속 협의로 남는 회색지대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789AD1-641D-4FD6-86D4-8AF326F4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rPr>
              <a:t>해석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1B9369-AFEF-40BD-B3E8-55DC5588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666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현재 대시보드는 “업무가 많다”보다 더 큰 문제를 보여줍니다. 같은 기준표에서 출발했는데도 산출물 포함 여부, 작업주체, 규격이 모두 갈라져 있어 더 이상 개별 업데이트로 흡수할 수 없습니다.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7DA80-F73E-4F14-9379-42EC1071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42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99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988B7F-029A-4637-A5B6-F9FA71D3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solidFill>
              <a:srgbClr val="C799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CB3D29-AA73-4A9E-A732-F754B807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05350"/>
            <a:ext cx="3067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숫자로 만들지 않은 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C058FD-9E07-48C2-88B8-447C557A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3067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월평균 요청 건수, 리드타임, 재작업 횟수는 현재 원천 필드가 없습니다. 이 덱은 그 값을 임의로 채우지 않고, 승인 이후 수집해야 할 운영 KPI로 분리합니다.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388185-A63E-4C08-A961-34F6C9F3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50E3BC-4935-45AF-B72F-E74EE707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F62449-34EF-41AC-ADD0-4C61582F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67911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443426-9FA3-4178-A846-36E49189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F6F7F4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500BDC20-5049-4CCE-833B-2B1F4D8B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5ECB05BE-DE41-46FD-850D-109F7CF0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COMPLEXITY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2DC3D-C959-4C11-A67C-F6BC8D96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복잡성은 특정 국가 문제가 아니라 권역별 운영 구조에 누적된다.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7827A-E7A3-4573-982E-9B52F0B0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가장 큰 비공통 업무 풀은 JP Organic, TW Onsite, JP/GL Onsite 순서로 나타납니다.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69CFA-36F4-42AB-8CD4-D960AEE1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96ECB-8342-45F1-B825-C6C52F4C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E370B-7664-495E-A943-D9F77D1B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2B5CD-AA1E-4A32-A9AD-046368CB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574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온사이트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D7E83-938C-4E3D-BCF3-A4034E0A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574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오가닉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6D74C-1033-4D83-B8A5-0CBCBA8A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574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CRM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F0A02-1238-4C92-A8D3-CC0BF5F0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페이드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2014A-94AB-4B39-AE63-4BFE327F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KR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3C2DE-1FBF-45EC-8F76-7056DBDE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765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8B7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1D251-2F37-4A3E-85C3-C17830CA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124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1DE10-55C5-4106-87B8-4C2659D7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813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전체 124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7EFE7-9226-4109-870E-97FE6A5E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765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867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AE27D6-D429-4A62-AAFC-28BA26D0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622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131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4E487-72C5-4989-82E3-E3B95EF6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전체 131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5E765-44D2-4E95-8EE3-EE2281AE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C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1E250-89D6-4A63-A243-65F7B8D0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622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37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67AC7F-1DD5-4581-96B8-752BDBB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전체 37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2FAA8-4CDD-4FF1-A9CC-311C02E2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6C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43B05-95C2-478B-B2D3-A91367C1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622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A4795A-B395-448D-9FF5-388913CF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전체 24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1FCFF4-7FC0-4E8D-8238-76665159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JP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69EAE-4963-42F0-A62D-EE307334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099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E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10B0B1-B235-4F41-AAF1-5002063F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956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163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570A19-A27E-4932-85B7-42F795C7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147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5E7E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F5E7E2"/>
                </a:solidFill>
                <a:latin typeface="Apple SD Gothic Neo"/>
                <a:ea typeface="Apple SD Gothic Neo"/>
                <a:cs typeface="Apple SD Gothic Neo"/>
              </a:rPr>
              <a:t>전체 163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3F8219-2479-4B57-8092-084F8571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099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9585BB-E17B-4ECA-BC8A-19D9534A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956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B30270-3CD7-4F6C-BC91-8EA016A5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147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5E7E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F5E7E2"/>
                </a:solidFill>
                <a:latin typeface="Apple SD Gothic Neo"/>
                <a:ea typeface="Apple SD Gothic Neo"/>
                <a:cs typeface="Apple SD Gothic Neo"/>
              </a:rPr>
              <a:t>전체 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022AFE-925C-40D4-98C7-A2D0EA89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099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0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B4CE8A-0766-4A97-91CE-84C46A39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E7FCE4-2046-4D68-AAA9-80225029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147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전체 32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CAF970-7674-4A45-AD76-6E189E79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99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0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DBC742-9B0D-4107-8283-FD093D8B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956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C23BA9-D69D-4C63-83E8-FDD72C8A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전체 32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62164C-DC43-4B8F-B7B7-ACFBD835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GL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2372EF-621D-49B3-9832-9C0308CE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433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E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BEC92A-1803-4B5A-94FC-586ACACA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6290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163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2C2E57-EEFD-46FF-8C83-05F3C1DF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481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5E7E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F5E7E2"/>
                </a:solidFill>
                <a:latin typeface="Apple SD Gothic Neo"/>
                <a:ea typeface="Apple SD Gothic Neo"/>
                <a:cs typeface="Apple SD Gothic Neo"/>
              </a:rPr>
              <a:t>전체 163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53431F-6EA0-4E3F-9245-542178F2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433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847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424E02-5436-42C6-931B-374C8B19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290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133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D868C6-838C-49F9-B442-8519DD49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481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전체 133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0F43B7-D0EC-4315-9D14-B31A9F8E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0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C3DBC2-D30C-4A25-8E73-515F5FA8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290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CAF54B-1757-4BCD-AEED-CB351D75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전체 32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2310AD-A0D5-4247-8EA7-3FC03F2E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433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0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1C1A64-E5FE-42E6-8F20-CB24D85A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290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4FF8AC-47A5-4681-A21C-AA461676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481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전체 32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15FE2F-CFB4-4621-8815-8F30A2D9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TW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2A44B0-8427-4797-9517-D4B1837E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767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25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404B2B-7010-4C61-B2BF-7B176648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624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179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982E0D-4256-4716-8D19-7A8394D9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815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5E7E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F5E7E2"/>
                </a:solidFill>
                <a:latin typeface="Apple SD Gothic Neo"/>
                <a:ea typeface="Apple SD Gothic Neo"/>
                <a:cs typeface="Apple SD Gothic Neo"/>
              </a:rPr>
              <a:t>전체 179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08E5BE-D9B2-4560-A404-635284F5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767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E39A46-10C0-454E-9BEB-300D8D75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624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D282AF-22D6-4A28-A7F0-0944500C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815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5E7E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F5E7E2"/>
                </a:solidFill>
                <a:latin typeface="Apple SD Gothic Neo"/>
                <a:ea typeface="Apple SD Gothic Neo"/>
                <a:cs typeface="Apple SD Gothic Neo"/>
              </a:rPr>
              <a:t>전체 149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81AD62-7525-4B9F-B069-9034EFDE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767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AC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B3C471-2806-475F-8CB3-952E7CED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624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40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01E999-1E3E-4189-A560-BA9FB30B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815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전체 40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8B49532-324C-4519-858A-EBCEC796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767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AC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4F89FB-368D-483F-BBEF-D000AC00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624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40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58A0CBA-4182-4EDA-9CD5-B1DCAB5F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전체 40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C4D253-3A0B-4EEC-B8A0-BE946B2A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TH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C76D4BE-D3DB-4ED1-8D86-5380839D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101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807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485273F-ACA7-49F1-AF60-643AFE5A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958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139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7B873E9-FCF3-4749-91DB-3A222D4E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149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5E7E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F5E7E2"/>
                </a:solidFill>
                <a:latin typeface="Apple SD Gothic Neo"/>
                <a:ea typeface="Apple SD Gothic Neo"/>
                <a:cs typeface="Apple SD Gothic Neo"/>
              </a:rPr>
              <a:t>전체 139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1221F99-31EA-44D8-B0E2-CAED6940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101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D9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5869C6D-B446-415A-AD10-A2BD4CE0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100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ACC8CF-936E-438D-886F-5078841C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149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전체 100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7C0B5E8-471B-46C9-889C-81A6D34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101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0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D1D2F87-B032-4890-8DEF-1CF008ED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958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DABAA6-CEA8-4454-AB99-7400BAB5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149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전체 32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C3BDD59-9DD9-4AAA-815D-2B7274D3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0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EC7BB19-3858-435E-AEBB-07EA02C0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958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1D02C82-4F90-4EF5-B941-6878932B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전체 32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5CC1F5D-8A02-4129-BF58-3239FAEA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18BABB6-8F67-48FF-BBA0-0F90C867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Top non-common workload pools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752107B-D83D-482E-9515-3C1CC127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622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C6B11DC-9516-41A1-86CE-8EB8EB85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JP · 오가닉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9D5A648-1BC9-47C0-B1E6-176D5C7F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24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rPr>
              <a:t>205개 비공통 업무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C110C15-CE2A-441A-A53B-89977752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2820011-20C9-435B-8825-6FA38067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6230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3F05CC2-2E3E-478D-B477-3BE59E12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242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TW · 온사이트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2D03AAF-C40F-4D36-9CFD-A26FBFF8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242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rPr>
              <a:t>179개 비공통 업무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E992CEF-565F-46B9-A760-DD2740FA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099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0446D70-E1E0-4E37-944A-2F5B5E7B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ACB251E-DBBB-44D7-A30F-164CCAB6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242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JP · 온사이트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DED83CD-0B75-4014-8ECE-F8F03296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4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rPr>
              <a:t>163개 비공통 업무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8E518C9-6B99-46DA-8C9B-310A283A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100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A85C353-5995-4FBF-97E8-90A1E6F5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6240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D2F7541-1335-4327-9FF7-8D4F6357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243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GL · 온사이트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1E432BB-B147-4672-BBEF-391A6EAC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24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rPr>
              <a:t>163개 비공통 업무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3DA63B4-2AFD-4F1E-97E3-A90E439F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DEB7804-C999-44A1-A979-4FAD7540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624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8DEE592-D75D-4693-8EE4-4BF69A29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243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TW · 오가닉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2F5FE1A-58EE-40A2-B57B-8DB64AEF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24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rPr>
              <a:t>149개 비공통 업무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CA1C38C-D775-499F-B768-FAE37102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101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4450B7D-024B-4F88-8D79-009BE6E1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1490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80ab2ed604e5d"/>
          <a:stretch xmlns:a="http://schemas.openxmlformats.org/drawingml/2006/main"/>
        </p:blipFill>
        <p:spPr>
          <a:xfrm xmlns:a="http://schemas.openxmlformats.org/drawingml/2006/main">
            <a:off x="7975433" y="4953000"/>
            <a:ext cx="641684" cy="609600"/>
          </a:xfrm>
          <a:prstGeom xmlns:a="http://schemas.openxmlformats.org/drawingml/2006/main" prst="rect">
            <a:avLst/>
          </a:prstGeom>
        </p:spPr>
      </p:pic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C28CBA6-58A3-481C-8F29-A2C97151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1490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a6bc07b7d4d60"/>
          <a:stretch xmlns:a="http://schemas.openxmlformats.org/drawingml/2006/main"/>
        </p:blipFill>
        <p:spPr>
          <a:xfrm xmlns:a="http://schemas.openxmlformats.org/drawingml/2006/main">
            <a:off x="9197026" y="4953000"/>
            <a:ext cx="713098" cy="609600"/>
          </a:xfrm>
          <a:prstGeom xmlns:a="http://schemas.openxmlformats.org/drawingml/2006/main" prst="rect">
            <a:avLst/>
          </a:prstGeom>
        </p:spPr>
      </p:pic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102390D-42A7-4E0B-887B-6E56CAF5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91490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7a6c80f854b9c"/>
          <a:stretch xmlns:a="http://schemas.openxmlformats.org/drawingml/2006/main"/>
        </p:blipFill>
        <p:spPr>
          <a:xfrm xmlns:a="http://schemas.openxmlformats.org/drawingml/2006/main">
            <a:off x="10417232" y="4953000"/>
            <a:ext cx="787286" cy="609600"/>
          </a:xfrm>
          <a:prstGeom xmlns:a="http://schemas.openxmlformats.org/drawingml/2006/main" prst="rect">
            <a:avLst/>
          </a:prstGeom>
        </p:spPr>
      </p:pic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9D64FD5-C98E-445A-B29E-0A76EE05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7531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동일한 상품 케이스도 국가별 산출물 구성과 작업주체가 달라집니다.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2C36D13-0561-4F6B-90B6-5D142A58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2AF8BE5-9C3D-4E32-BEE2-BF9254B7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03F7D86-7FC6-49AF-97A6-4BD8D964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57381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186C72-8DAC-438A-87A3-F3145E2B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F6F7F4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09AC64DE-F4B3-4E51-878A-F372652C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659539F0-089A-4630-B473-77925775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DRIVERS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0CC2B-2236-4FB2-9B9F-241C2E76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예외는 네 가지 형태로 분해되고, 모두 승인 정책 없이는 줄지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7D73E-DC73-4C97-BFAC-1B59B407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가장 큰 원인은 산출물 포함 여부 차이입니다. 그 다음은 GL 언어별 차이와 규격 차이입니다.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07B8F-A5F5-4617-9C01-4DD42F7C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346AA-10FF-4DBE-A182-C746E348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6489C-FB22-41E6-B64C-721CCDEC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4AEDE-916B-4D85-94FE-FC2AA5C7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산출물 포함 여부 차이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5E013-12C7-4033-92A6-C66F059A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2"/>
          </a:solidFill>
          <a:ln xmlns:a="http://schemas.openxmlformats.org/drawingml/2006/main" w="0">
            <a:solidFill>
              <a:srgbClr val="E7E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5FE36-8F39-49AD-AD9C-FE9A9236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CD300-6949-4716-AEED-5B32F99E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4792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175건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45E59-6D35-4C53-B880-70E36F44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GL 언어별 차이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E418F-B123-48FC-9C55-685E4348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61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2"/>
          </a:solidFill>
          <a:ln xmlns:a="http://schemas.openxmlformats.org/drawingml/2006/main" w="0">
            <a:solidFill>
              <a:srgbClr val="E7E8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B0C80-1472-448E-9B5D-B4985ABB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6100"/>
            <a:ext cx="266482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solidFill>
              <a:srgbClr val="C799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35D0F-0BF5-407E-BFBA-89085841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873" y="307657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136건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A7B75-1D3D-4099-83C1-178710EC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규격 차이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B7522-41FA-4193-A8AA-2FE390B2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147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2"/>
          </a:solidFill>
          <a:ln xmlns:a="http://schemas.openxmlformats.org/drawingml/2006/main" w="0">
            <a:solidFill>
              <a:srgbClr val="E7E8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FD17D-E6D5-4D39-97B7-DCFB01DA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14750"/>
            <a:ext cx="2214154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A"/>
          </a:solidFill>
          <a:ln xmlns:a="http://schemas.openxmlformats.org/drawingml/2006/main" w="0">
            <a:solidFill>
              <a:srgbClr val="1F6B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B5419-388E-4C5F-BE59-4B043F0B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204" y="370522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113건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374D2-4032-4828-B4CD-DDC252E2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작업주체 차이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467F8-C690-4E24-9EA0-05EE235B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434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2"/>
          </a:solidFill>
          <a:ln xmlns:a="http://schemas.openxmlformats.org/drawingml/2006/main" w="0">
            <a:solidFill>
              <a:srgbClr val="E7E8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E3F6F3-3E3E-4B77-A337-02F50DB7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43400"/>
            <a:ext cx="94052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C9B"/>
          </a:solidFill>
          <a:ln xmlns:a="http://schemas.openxmlformats.org/drawingml/2006/main" w="0">
            <a:solidFill>
              <a:srgbClr val="6F5C9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8D65A6-873F-40DD-AD3E-DA89E52A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576" y="433387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48건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22B21D-B9AF-4293-BA66-3DFE302E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36576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17211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A729AE-D28F-4F00-B9BE-F615DAC0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908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운영 병목의 실제 형태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6E9E00-D290-4768-A905-0E9710BA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03A3E1-F2A8-48AC-8ED0-7EA70093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28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A는 요청, B는 생략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F3F01A-D640-43B8-A868-299F053F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480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rPr>
              <a:t>Cherry-picking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708BF2-AADD-4F3F-A204-8F70B92C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C9B"/>
          </a:solidFill>
          <a:ln xmlns:a="http://schemas.openxmlformats.org/drawingml/2006/main" w="0">
            <a:solidFill>
              <a:srgbClr val="6F5C9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D69455-8420-466F-A261-7609C7E0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담당자별 작업주체 다름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815E8A-33DD-4C86-AB53-27962A87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48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rPr>
              <a:t>Owner drift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71AAE7-F298-4654-A41C-D2C491EB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76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A"/>
          </a:solidFill>
          <a:ln xmlns:a="http://schemas.openxmlformats.org/drawingml/2006/main" w="0">
            <a:solidFill>
              <a:srgbClr val="1F6B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8B8E01-9A62-49E8-B23C-FA63DE21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1:1/4:5/확장자 기준 다름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A4D4C6-6440-4C90-9EFE-9B0E2195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481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rPr>
              <a:t>Spec drift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CED284-76FC-463F-849B-8AB00104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7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solidFill>
              <a:srgbClr val="C799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731F09-EF90-4028-8EB9-56CE10D0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29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GL 내 EN/TW/TH 기준 갈림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4FEDBE-B415-402E-90EC-BD1618ED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481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AAB5AE"/>
                </a:solidFill>
                <a:latin typeface="Apple SD Gothic Neo"/>
                <a:ea typeface="Apple SD Gothic Neo"/>
                <a:cs typeface="Apple SD Gothic Neo"/>
              </a:rPr>
              <a:t>Language drift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8C12DE-9C60-4F67-8357-9CE105CB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291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4A"/>
          </a:solidFill>
          <a:ln xmlns:a="http://schemas.openxmlformats.org/drawingml/2006/main" w="0">
            <a:solidFill>
              <a:srgbClr val="4250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69D07C-4A1B-4E60-9DB5-EB98270B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196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rPr>
              <a:t>따라서 해결책은 디자인팀 내부 합의가 아니라, 국가별 예외 승인권을 정책으로 재설계하는 것입니다.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2A25C4-A643-4CF7-B3F0-18BAA955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594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4E3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C8AEA8-52A6-4098-9474-18A2F878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0B77B5-7960-43AE-97FE-CFCEC224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558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본부장 설득 포인트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424607-C226-4464-96B9-B2DABF4F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558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“우리 국가만 예외”가 아니라 “모든 국가가 예외를 갖고 있다”는 사실을 데이터로 보여주고, 예외를 없애자는 대신 승인 가능한 예외와 불가능한 예외를 나눕니다.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11762E-D668-4EC4-A731-A1604B88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140786-B9E9-43B8-9B97-A53CB277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80A1D3-6C8A-44FF-BAA5-11FEE8D8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97618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2CCDDD-D2EA-441E-886F-AC1C8045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F6F7F4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B4B77DC7-C331-422A-B0A8-A254A583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73FFE504-4882-4311-B29C-AA1871F4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R&amp;R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166B9-675D-4D6F-8404-7002A2A0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기존 R&amp;R은 이미 디자인팀의 안팎을 구분하고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CBF20-2A7C-4283-A3D3-640D13A0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새 가이드가 필요한 것이 아니라, 이미 정리된 R&amp;R과 템플릿을 지키게 만드는 운영 장치가 필요합니다.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ED827-5D05-4E52-92CC-DF150217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18489-8D4B-4A45-A1B2-5745766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43B03-1214-43DB-916D-9622FF19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BBC0D-608C-4A49-B6FF-18DAEF43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0A5AA-2BC5-4B1D-A19D-54FAC40E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업무 영역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EFE08-ECB3-4A85-AF08-E66738E5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DA7A0-E339-4799-BFCE-304B22E2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5270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KR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970C6-8B8C-4163-BBCC-682818E9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2DE91-F64B-4048-9CCF-1F87ECD6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5270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JP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991D5-0DAF-4A4A-AC8A-AEA5F811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B530C-C259-45B2-8CE6-DA8A930E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5270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025DB-48B2-45B6-A05C-7028E922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2419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AD261-B453-4303-AAA8-97F2CC1D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해석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2C908-4C5D-40C5-AE98-72267F6A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562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A37A5-6387-4234-8CE4-13599E48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상세페이지 제작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D860B-35B8-4916-AD75-0A0E3BAA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575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F5D5F-8788-4E7F-AA90-7893E777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813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디자인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E1F07-DFBC-4AAA-8600-D8D5EC63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9C5DA-1995-4541-B4D5-92D55529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813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디자인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47A4C-AF80-4D9D-8C19-D02D7AC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950575-90A4-4D4D-8283-1A0C202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813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디자인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7FB11-B9A5-417D-A51B-6234D83E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2419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A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C8C381-88D9-48FC-ABF2-503F67FA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813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핵심 제작 R&amp;R은 이미 공통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C6C951-1B35-4FE2-9503-4E75C492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562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2FEC79-9181-4948-99B9-CA38AF21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상세페이지 운영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9CDCE6-6A81-4666-92CF-55C912CB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147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5378B3-D7A4-404D-B31A-8EA435DA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디자인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903242-2B4E-4D38-8D58-8DF2E170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147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D3D919-78D6-48F7-B454-57E90E22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385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디자인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BCEF76-B490-4BAC-BFDF-1A6A6FB8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147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BF4FAB-A6B4-40C6-9F5C-90E55DB5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385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디자인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687A57-992F-404D-AFA6-95766741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419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A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300F2E-20EE-42B5-AB66-61DFC611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385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수정/운영도 공통 관리 대상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840C8A-4F93-4EA1-8256-3ED62A4F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562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A989AC-F2DE-40D6-A7B2-E5FB0D85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오가닉 제작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44A9C8-C8B7-42BE-A649-42674BCC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719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69A333-E9AB-4A88-AC63-F5180E34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957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디자인/마케팅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6E705F-DF6C-4E1D-87AD-7B36D90D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719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D45C00-7A0A-43ED-B725-6A9AF0E2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957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디자인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0A8320-42D0-4CD0-991F-DBFDC4AC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719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3B09C3-6251-4CDB-A256-B2A5DE3D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957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디자인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FD33D1-B824-440B-893A-E27235F2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71900"/>
            <a:ext cx="2419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A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E50B22-DF81-40F4-BBD1-0786EC63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957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KR만 혼합 구조, 정책 정리 필요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A8040B-777D-462E-B401-4D420C0A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562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709069-AB71-4B62-BACC-B9840170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529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광고 제작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374650-EBF0-4BD9-BD70-126EBD22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291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5C9338-5819-4830-BE30-244FC51C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529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디자인/마케팅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27BD75-8640-41EC-B90D-AA301F06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291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76C16B-7F20-44D2-B888-749B5705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529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디자인/마케팅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9FB6EF-6464-4008-A344-6E39ADE2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291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B7B259-53A7-42BF-BA0B-29B795CE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529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디자인/마케팅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6755CA-537C-44C6-A790-CA51C028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29100"/>
            <a:ext cx="2419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A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70C409-5C0E-44B0-83E3-D3FAF610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529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운영 주체 명확화 필요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A46DBC-5FF7-4E79-9C43-B77831EA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1562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286EBC2-CCEB-42EE-958F-62BBB5B5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강의 영상 제작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0C9886-19F6-4A20-BF46-6193590C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86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81B56E-0EE3-4869-AB43-9AA7D14B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101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PD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3DFAF8A-FA93-40AB-82D7-2639CE6E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86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E86FB5D-6898-4B46-BABA-D2179408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01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PD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110D380-97A4-4E8C-8B9F-16DE6C3A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7EF53D-0867-4935-B726-FB2811F9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101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PD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EB6B78-C82C-4DFE-88B7-DE7AFA1F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86300"/>
            <a:ext cx="2419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A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CA618A1-3740-4ABB-AC45-BB9D0C5B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101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디자인팀 R&amp;R 밖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840E50-2398-4314-A0D7-C7347AEC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562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D11A343-FBAB-42B3-A9C9-5F233505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673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강의자료 제작/운영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BA28C1C-9F78-4193-8959-EBA4FF83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435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A19E887-692A-4D67-B2CC-842AB7B0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673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기획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240117F-4100-42DD-8CCD-F199634E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435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3EA5573-B481-4448-BA44-18A5237C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673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기획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8B366FB-990F-442A-A8D5-DFE703EC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435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DFFEBB7-9D08-41A9-9ABB-092731DA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67325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기획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B8125DD-FE27-49FB-8794-C32CF6A4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43500"/>
            <a:ext cx="2419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A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4A82605-A6B3-42CD-A4F7-315A4CFB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673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디자인은 수정/템플릿 지원만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0DF3AAE-912F-4103-8779-2D3EFF83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05450"/>
            <a:ext cx="3409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17211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2E3325B-A153-465A-8136-A206E036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007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99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C7993D"/>
                </a:solidFill>
                <a:latin typeface="Apple SD Gothic Neo"/>
                <a:ea typeface="Apple SD Gothic Neo"/>
                <a:cs typeface="Apple SD Gothic Neo"/>
              </a:rPr>
              <a:t>정책 문장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E60ECD9-8D90-4DD6-83D5-9D24D40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81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영상 관련 산출물 제작은 디자인팀 R&amp;R에서 제외한다.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DDBD747-FC73-4F65-AE6A-3A8742A2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649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9F3EE94-4D49-4488-A491-EFC71C94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문제는 R&amp;R 부재가 아니라, 예외 요청이 R&amp;R보다 강하게 작동하는 현재 운영 방식입니다.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D0CA24D-A74D-47A8-82D4-8C23E23A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1D13BDA-753A-4A7B-93CD-105D9B93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1457E60-EE78-4380-9DCB-AD6D7353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844730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45AE47-7F39-45B1-AD36-EEBBAB78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F6F7F4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1AA607D7-3A36-4155-95EE-8D4028BB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261D1533-6B98-4983-AD1E-7F245301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STANDARD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EA186-C0F5-4012-9C15-9F88D63D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임의 조합을 막는 순간, 업무는 패키지 단위로 예측 가능해진다.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A80CF-E9B3-4369-ABF0-02E1B7D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국가별 필요를 부정하는 것이 아니라, 기본 산출물은 하나의 패키지로 잠그고 예외만 별도 승인 흐름으로 분리합니다.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AD7CA-0E99-4007-BFF3-2E042AEE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E8AC3-686D-44C5-A16C-D426D500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E123A-F572-426F-85F7-AC0A2D9E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568A6-4421-4EBD-AA57-A8D1F3CD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857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6B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462E7-997A-410B-A33C-5090E8B0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A"/>
          </a:solidFill>
          <a:ln xmlns:a="http://schemas.openxmlformats.org/drawingml/2006/main" w="0">
            <a:solidFill>
              <a:srgbClr val="1F6B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B147C-E28A-4FB8-850B-BA2B0CDF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B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F6B5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2EF8C-5BD1-4C0B-AD98-2A49704D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Figma 모듈형 가이드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B13E3-8525-42E6-89FD-C52583F3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이미 구축된 템플릿과 모듈을 기준으로 삼는다.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C3250-E792-4629-9C9B-AD0CDAF4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099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16D"/>
          </a:solidFill>
          <a:ln xmlns:a="http://schemas.openxmlformats.org/drawingml/2006/main" w="0">
            <a:solidFill>
              <a:srgbClr val="6871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8A591-8ADD-4FFF-AD1D-90BFE476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16D"/>
          </a:solidFill>
          <a:ln xmlns:a="http://schemas.openxmlformats.org/drawingml/2006/main" w="0">
            <a:solidFill>
              <a:srgbClr val="6871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5F2CA-27E0-4A54-9E7B-3009ADAF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2857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4E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C9A9EE-050E-481E-A00F-1270E336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6D4DC-051C-4E11-A996-CA0E0B7A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B84E3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90A628-6DD3-494E-8D55-63C6CD2E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7655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필수 산출물 패키지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44693-0184-45D6-A300-5377CD70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3375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얼리버드, 상세페이지 오픈, 운영 수정 범위를 고정한다.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661A27-ED48-4958-AFAB-174EC347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099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16D"/>
          </a:solidFill>
          <a:ln xmlns:a="http://schemas.openxmlformats.org/drawingml/2006/main" w="0">
            <a:solidFill>
              <a:srgbClr val="6871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4ECDA0-2BAF-4291-BB94-002B3648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16D"/>
          </a:solidFill>
          <a:ln xmlns:a="http://schemas.openxmlformats.org/drawingml/2006/main" w="0">
            <a:solidFill>
              <a:srgbClr val="6871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9898EF-BEEA-4705-887C-1FFCCAF6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2857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99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07BF13-66DA-4A9F-9AFE-1674D1CD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solidFill>
              <a:srgbClr val="C799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C7B21D-D416-4E3B-80EA-13841B0A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99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7993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37F391-34F1-418D-A130-CD600D9B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Backlog 예측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2BBE91-8973-4217-BA44-25C463C7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패키지 단위로 리드타임과 리소스를 산정한다.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9061D8-EB8F-43DD-8D83-FC9C50F9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4819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6B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FBB904-D5F4-4957-9667-ECB7F82B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A"/>
          </a:solidFill>
          <a:ln xmlns:a="http://schemas.openxmlformats.org/drawingml/2006/main" w="0">
            <a:solidFill>
              <a:srgbClr val="1F6B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95A341-60A8-4315-9752-BC163909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445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핵심 운영 원칙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C924F1-82BC-4D44-81A2-8D927495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445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필수 패키지는 담당자 재량으로 삭제하거나 추가하지 않습니다. 국가별 특수성은 패키지를 깨는 방식이 아니라, 티켓 승인제를 통해 필요한 경우만 통과시킵니다.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26D2A9-D9E8-493B-99F0-6B9B7F0E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419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99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73C154-836D-46F4-A422-CA024EA1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solidFill>
              <a:srgbClr val="C799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5A8E15-736B-4B18-9ED3-D80742DF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382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상세페이지 운영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A0974F-BD88-485D-9CA3-EB551FB8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53050"/>
            <a:ext cx="382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텍스트/이미지 수정 같은 루틴 운영은 주기를 묶어 처리하고, 구조 변경이나 신규 포맷은 예외 트랙으로 이동합니다.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FBC146-F4AB-4131-8907-340E1817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682A34-94E3-4B25-9C96-471DD70F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86A521-0076-4F4F-86A0-4BBCA70B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757990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E4E6F-1BC4-4E40-B0C5-47DA58FE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F6F7F4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3045142F-DC96-47C7-8D45-B97AC991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829F8B26-6455-4980-A334-ADE5C19E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TWO-TRACK INTAKE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98235-CF2C-44A9-A00D-8CB848A1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루틴은 빠르게, 예외는 티켓으로 승인해야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3764F-54C8-4C66-AC14-A9EA6AAB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이 방식의 핵심은 루틴 업무를 늦추지 않으면서, 가이드 밖 요청을 본부장 승인과 리소스 검토 앞에 세우는 것입니다.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3A722-6FBB-4EC4-A300-A3984F8B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50A2D-585B-4276-9F66-F0A95DEF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7FC09-B9EE-4AFE-8FA3-A88F3A53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3369C-8DEC-4434-98C8-3334A875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4953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0"/>
          </a:solidFill>
          <a:ln xmlns:a="http://schemas.openxmlformats.org/drawingml/2006/main" w="19050">
            <a:solidFill>
              <a:srgbClr val="1F6B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4700C-42E9-479D-B3ED-8B94DC0C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A"/>
          </a:solidFill>
          <a:ln xmlns:a="http://schemas.openxmlformats.org/drawingml/2006/main" w="0">
            <a:solidFill>
              <a:srgbClr val="1F6B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5BA59-D7AD-4A18-9110-E5D7778F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Track 1. Routine / Standard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29C37-4833-45B2-80FB-7ADD2083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289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DDE5DC"/>
                </a:solidFill>
                <a:latin typeface="Apple SD Gothic Neo"/>
                <a:ea typeface="Apple SD Gothic Neo"/>
                <a:cs typeface="Apple SD Gothic Neo"/>
              </a:rPr>
              <a:t>프리패스 Fast-track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10D67-25DD-4B6B-854E-07A114B2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B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F6B5A"/>
                </a:solidFill>
                <a:latin typeface="Apple SD Gothic Neo"/>
                <a:ea typeface="Apple SD Gothic Neo"/>
                <a:cs typeface="Apple SD Gothic Neo"/>
              </a:rPr>
              <a:t>대상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0C096-3550-4913-955E-31C841FA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19450"/>
            <a:ext cx="3314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사전 합의된 필수 산출물 패키지 100% 준수 건</a:t>
            </a:r>
          </a:p>
          <a:p xmlns:a="http://schemas.openxmlformats.org/drawingml/2006/main">
            <a:pPr algn="l">
              <a:defRPr sz="1088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단순 텍스트/이미지 운영 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3A130-7681-4B99-9F75-A5834B65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23824-D48C-4238-8957-AC314ABD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B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F6B5A"/>
                </a:solidFill>
                <a:latin typeface="Apple SD Gothic Neo"/>
                <a:ea typeface="Apple SD Gothic Neo"/>
                <a:cs typeface="Apple SD Gothic Neo"/>
              </a:rPr>
              <a:t>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766EE-13FF-4C09-BBD2-25CB02C6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05250"/>
            <a:ext cx="3314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마케팅 디자인 통합 요청 시트 접수</a:t>
            </a:r>
          </a:p>
          <a:p xmlns:a="http://schemas.openxmlformats.org/drawingml/2006/main">
            <a:pPr algn="l">
              <a:defRPr sz="1088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즉시 Backlog 편입 및 순차 진행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73405-5CAF-45C2-AA84-1C73EDF2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854D9C-5EBB-40E6-B648-3A87E08D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B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F6B5A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36D61D-12AC-40B4-B1C5-5ECB54F6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91050"/>
            <a:ext cx="3314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루틴 업무는 승인 대기 없이 빠르게 처리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52C152-F2A9-49A7-8497-91841C33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953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1"/>
          </a:solidFill>
          <a:ln xmlns:a="http://schemas.openxmlformats.org/drawingml/2006/main" w="19050">
            <a:solidFill>
              <a:srgbClr val="B84E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641975-DD1D-41D4-B2B0-40E22237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1CEEEC-3C9D-4D80-A536-767736FB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908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Track 2. Non-routine / Exception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5298A-C487-4DF5-BB16-635F79F4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289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F9DD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9DDD5"/>
                </a:solidFill>
                <a:latin typeface="Apple SD Gothic Neo"/>
                <a:ea typeface="Apple SD Gothic Neo"/>
                <a:cs typeface="Apple SD Gothic Neo"/>
              </a:rPr>
              <a:t>티켓 승인제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31FD5-686B-4F01-8B00-67BD0263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004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D43AFE-6DB3-432C-8FAB-629B44C2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5755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99900C-1129-4E10-B55B-A0D00E00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19450"/>
            <a:ext cx="3390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요청자가 사업적 필요성과 기대효과를 명시해 티켓 발행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9B872A-07D1-44E0-98FD-49C2C4D5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481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F09909-63CB-434F-9A16-33B8FF81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6B6A51-D3CC-481F-BB2A-6B44D50B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390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해당 국가 본부장 Director 1차 승인으로 불필요 요청 컷오프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52BF3E-C8F8-4C86-A3C9-268710F5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958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49234A-5828-4748-92FB-8021D24D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5295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032594-7D5A-464C-9A9B-D644007E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14850"/>
            <a:ext cx="3390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디자인팀이 리소스·타당성 검토 후 Approve/Reject 및 일정 회신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5DD587-684E-43CD-AE07-AF244C4D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79120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17211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BF7DD7-D505-4B0A-B98F-C5240216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90550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가이드 외 신규 포맷, 템플릿 구조 변경, 특정 연사/국가 특별 산출물은 모두 Track 2로 이동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834D06-B1A0-4856-9355-7B60875E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24DB1A-06D1-46CD-9603-FCD02C4F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A1C619-8612-4EF3-972B-28E4E936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23130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6A41CD-FA8B-4B79-8841-6F3CF57E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F6F7F4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7CBF830F-A911-476D-AF38-F4E2E047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AC02987B-26DF-4B70-A8DC-1857884D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EXCEPTION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1488D-F260-4559-9AFD-21E9EB40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예외는 취향이 아니라 리스크 등급으로만 통과시킨다.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1E560-8D4D-4A1A-BF50-1D6B272A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예외를 모두 금지하는 안이 아닙니다. 사업상 필요한 예외와 개인 편의성 예외를 분리해 승인 비용을 명확히 하는 안입니다.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C3EC4-8F77-4EF3-85D1-B6BC46B3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9A8AD-7D12-4664-B5FB-8FEAE3CF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2570F-1932-484A-BD31-D10699EB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1B55F-7E41-4E62-AF5B-8055899B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A"/>
          </a:solidFill>
          <a:ln xmlns:a="http://schemas.openxmlformats.org/drawingml/2006/main" w="0">
            <a:solidFill>
              <a:srgbClr val="1F6B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211C-5825-4929-A06A-1BA758C8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527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Tier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68452-285F-4CC6-923B-C52D991F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146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Global Standard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B09ED-BF9E-4E17-A97C-2A448A0D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003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2F4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2F4EE"/>
                </a:solidFill>
                <a:latin typeface="Apple SD Gothic Neo"/>
                <a:ea typeface="Apple SD Gothic Neo"/>
                <a:cs typeface="Apple SD Gothic Neo"/>
              </a:rPr>
              <a:t>90% 이상의 일반 업무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0B46B-D464-4EF0-9818-0AAB0BD9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필수 산출물 패키지 100% 준수</a:t>
            </a:r>
          </a:p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Track 1 Fast-track 편입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DA394-4933-40C3-87FC-C7A81BA7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003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A"/>
          </a:solidFill>
          <a:ln xmlns:a="http://schemas.openxmlformats.org/drawingml/2006/main" w="0">
            <a:solidFill>
              <a:srgbClr val="1F6B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0D57E-3263-424E-8866-D10F77EB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467100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solidFill>
              <a:srgbClr val="C799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275B3-7B09-4E5A-8AC2-13CECE85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619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Tier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60892-3DD4-4247-8658-DE2DF62F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5814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Strategic Exception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89A65-E7F0-49A7-8324-08C5D207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867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2F4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2F4EE"/>
                </a:solidFill>
                <a:latin typeface="Apple SD Gothic Neo"/>
                <a:ea typeface="Apple SD Gothic Neo"/>
                <a:cs typeface="Apple SD Gothic Neo"/>
              </a:rPr>
              <a:t>법적/현지화 필수 요소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F72B1-B9E1-459D-B5E2-12917BB6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6004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본부장 1차 승인 + 디자인 리소스 검토</a:t>
            </a:r>
          </a:p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필요 모듈만 제한 수용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EE0ADD-B1A6-4678-BE47-53E365DC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8671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solidFill>
              <a:srgbClr val="C799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21D302-7E89-410E-80BA-827E71F9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5339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7316C-6852-4254-9A8D-DBEAC26F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863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Tier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0ECD18-2671-4973-89E7-64BB98BB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482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Individual Option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ED55C0-5F14-46FB-9670-1344F8A7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339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2F4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F2F4EE"/>
                </a:solidFill>
                <a:latin typeface="Apple SD Gothic Neo"/>
                <a:ea typeface="Apple SD Gothic Neo"/>
                <a:cs typeface="Apple SD Gothic Neo"/>
              </a:rPr>
              <a:t>개별 취향·편의 요청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A80547-44F8-40E7-B1CA-86BDE4CD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산출물 항목 변경/추가 요청 수용 불가</a:t>
            </a:r>
          </a:p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가이드 외 요청은 반려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5BAC83-7277-429E-A966-E1DE0688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339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A9CA96-6805-4F24-BF22-14DE47AF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272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178D7A-2F3F-492A-98A1-D46988F6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622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Director approval 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06862E-42B0-4B81-AB3F-507B9F04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본부장 승인 단계의 목적은 디자인팀이 ‘안 된다’고 말하게 만드는 것이 아니라, 각 국가가 예외의 사업적 가치를 먼저 설명하도록 만드는 것입니다.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B86FF-F673-45AC-BD73-45D65B69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17211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34EDF7-5F1C-4471-A0F8-E1125315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개인 옵션은 정책상 반려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897509-053C-4F11-9B76-DCDAB528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35BED0-CD2A-4DC8-9007-6F1DD700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28F4FB-D64A-4169-BCE8-0352D21C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05137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06A8CA-AA1B-4EAB-B783-1DA37105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F6F7F4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6F2E2792-D8E9-4F27-B749-672173D5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319009BC-7597-4A24-804C-81FEE7E7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DECISION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92C84-CF28-4C89-8791-63DAFA83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본부장 승인 없이는 이 정책은 팀별 권고안으로 남는다.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52215-D1CB-4EE9-8957-6DA18FCF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디자인팀이 가이드를 더 만드는 문제가 아니라, 국가별 요청 권한과 예외 승인권을 어디에 둘지 결정하는 문제입니다.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5F9A0-D13F-4B67-BCBC-4384FAE4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A4A50-35DD-4542-8155-1E23DA3C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C3703-A717-44AE-93E3-DBF53844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D5CE0-D0DB-49CA-8A62-3E32B97D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647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1721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6421B-1AE3-4280-BA7F-DF925841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승인 요청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61345-95EE-4605-B580-55B46294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812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17211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558BC-B1BE-4168-B14E-F08EC3F4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645C9-CFAF-487C-AE5C-9B6A408B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1721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9B64C-E566-418C-A126-5F6E412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14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본부장 역할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069F6-2C25-4FE5-B1D9-65742462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81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17211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D6229-16B7-4D7F-B45B-6B5F3DFB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기대 효과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D483B-7F6F-4FB6-83D5-AB515F97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647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857D2-B015-417D-BE19-CD948C58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필수 산출물 패키지 고정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74A14-77EE-41AC-818F-D0656F57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194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8F7271-B950-4DF6-A491-B50ADA0D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5275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6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담당자 재량의 추가/삭제 금지. Figma 모듈형 가이드를 전사 기본값으로 의무화.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534D56-073B-4194-A5A3-BA076331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2266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97C61-C6FC-411D-BE46-41F62360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6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국가별 예외 요구 컷오프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54DD0D-59D6-447F-BC97-5C560694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194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E48DE7-E430-41E0-A371-68F95067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6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리드타임 예측 가능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C87C8B-3438-4504-B331-B6E39EAF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647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A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B55EBD-6F8C-4E79-9067-17CA591E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Single Channel 강제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C6D941-F55E-4595-8C3A-B3CED8B9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242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A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CB831D-27BC-4829-A675-8C4E7FB7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6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마케팅 디자인 통합 요청 시트 외 구두/Slack/개별 시트 요청 반려.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6260FF-AF9E-4CA2-A4BF-0978FA9A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2266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A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6177E8-EE94-4842-8D9F-FB790A59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576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6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부서 내 요청 경로 통일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3CBC6C-CC89-4232-BD48-76CA4A9A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242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A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C2C7DD-474C-49D0-ABB4-A19BA50A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576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6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누락·히스토리 리스크 감소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99B62A-4BCF-4B6A-BA9D-A912A253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2647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C25E4A-2144-4CB1-86D4-D1BBDD40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Two-track Intake 승인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67474F-6365-4226-B226-16D34654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291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C76908-17A9-4F9D-BE72-602716EC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6245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6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Routine은 Fast-track, Exception은 티켓 승인제로 분리.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B78BBD-DD88-4766-84DD-3E03F285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2266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81039B-886C-4963-91E1-C3C23ABD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624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6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티켓 1차 승인자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4E9B5B-6A19-4926-9D93-30BE66B1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291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000B76-59CE-4242-9D64-69FC1333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6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루틴 속도 유지 + 예외 비용 가시화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D93B9B-0092-4798-97E4-66D71B65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2647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A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C18A3B-42D1-424D-9C17-956B75A1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영상 산출물 R&amp;R 명확화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F09838-AD2D-42B0-84C1-4F0485BC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339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A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6C01BF-97B1-46CA-AA94-B4B7CA52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673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6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영상 제작은 디자인팀 R&amp;R 밖으로 명시. 필요한 썸네일/템플릿만 범위 지정.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370A80-B4DD-4813-B47E-AC17B01D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33950"/>
            <a:ext cx="2266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A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6E6A2A-939E-4287-8088-14289727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673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6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범위 밖 요청 차단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191CA1-4020-425F-9694-51E14F2A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339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A"/>
          </a:solidFill>
          <a:ln xmlns:a="http://schemas.openxmlformats.org/drawingml/2006/main" w="9525">
            <a:solidFill>
              <a:srgbClr val="D7DBD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832B3B-F1D3-4A2E-AE50-685B194E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6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디자인 리소스 보호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2B68C5-498F-428A-B80E-4E3C16B9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24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6FBE61-050F-4E65-9B25-E3ED7B8E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43600"/>
            <a:ext cx="979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승인 문장: 가이드 외 요청은 국가 본부장 승인 없이는 디자인팀 검토 단계로 넘어오지 않는다.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B82B2C-2EE6-4A6B-95E9-E633C1F6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6AC009-7BF6-4252-B1C9-73BDB1C3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6E0F1E-EF89-4773-B88F-B92A36E9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92097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23E137-2C41-4638-9633-DB1D9451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F6F7F4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9C6EF870-D988-47E1-A05A-3140DF96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EE247389-38B1-4F96-9D99-A01190F4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58AD6-D10F-448B-85FF-0F75CD2C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30일 안에 데이터가 쌓이고, 60일 안에 예외가 보이게 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9CAD-6B80-48E0-A30E-2B4F3230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현재 비어 있는 리드타임·요청량·재작업 지표는 정책 승인 이후 요청 시트와 대시보드에 필드로 붙여야 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EAA7E-AAC1-40D5-8FEF-498F4B54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5F5D4-0C5B-40F5-B3EC-4B1A3941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857A1-A6AE-4706-903D-92EDD6E4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DAA52-61DC-4B88-B558-5E9FD249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876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CC9C4-CE48-4CC6-A5D3-E50BC42F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8AE0B-8EF1-4872-B5B8-62462B96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D+0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2C68C-BD34-44F0-8CCD-067DC649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승인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4348E-C35B-46BA-983F-4DF66865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필수 패키지·2트랙·반려 원칙 승인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6768C-8196-4D0C-A23E-A8657023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099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A"/>
          </a:solidFill>
          <a:ln xmlns:a="http://schemas.openxmlformats.org/drawingml/2006/main" w="0">
            <a:solidFill>
              <a:srgbClr val="1F6B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D1087-5B7A-4D98-B2C0-5E53A58F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813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D+14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5E56E-A131-4F26-87C6-9BE5DA8F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099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2734E-6311-49CB-AB91-E42E4943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6240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국가별 필수 산출물 리스트와 예외 정의 고정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E6DA3-CFE8-444B-A647-3BDE734E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A"/>
          </a:solidFill>
          <a:ln xmlns:a="http://schemas.openxmlformats.org/drawingml/2006/main" w="0">
            <a:solidFill>
              <a:srgbClr val="1F6B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AD546-A63E-4923-9BAE-38784753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D+30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52EE1-45D0-4722-BEB1-C5FAD022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099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B881E9-69DF-4294-A071-A9A9313B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6240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통합 요청 시트와 티켓 양식 운영 시작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E967F4-7E6B-4DAA-99ED-6E4206EC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099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solidFill>
              <a:srgbClr val="C799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2904DD-976D-427D-95C6-2AA124ED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813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D+60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81359B-44AB-44B7-86A8-D9454919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099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리뷰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BD0EF4-3EFE-464B-A721-5222D3F2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6240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예외 티켓, 반려 건, 리드타임 첫 리포트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C40F9B-1752-4318-B2CE-66F989AD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099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93D"/>
          </a:solidFill>
          <a:ln xmlns:a="http://schemas.openxmlformats.org/drawingml/2006/main" w="0">
            <a:solidFill>
              <a:srgbClr val="C799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DB89DA-DC8F-485D-AE9E-1154801C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813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D+90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796761-6413-45F8-951C-CA28957B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099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고도화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6F1790-3E06-4D11-9BA3-328A2D09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6240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9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국가별 SLA와 패키지 업데이트 주기 확정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E26A14-AA3B-4ACC-9431-F14272F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6B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ED3CB6-30D6-4F21-B887-A534E0F3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A"/>
          </a:solidFill>
          <a:ln xmlns:a="http://schemas.openxmlformats.org/drawingml/2006/main" w="0">
            <a:solidFill>
              <a:srgbClr val="1F6B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10EE00-BEE5-48EB-8073-4C54C7C3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411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새로 수집할 KPI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6AD7DD-2CDC-44F5-B9BE-1B19A93D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14950"/>
            <a:ext cx="411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월평균 요청 건수 · 평균 리드타임 · 재작업 횟수 · 오프채널 반려 건 · 예외 티켓 승인율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87F5DD-F5E3-45B9-A1AD-846058E0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3870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4E3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9FA2DC-4116-44B1-98EA-3D67EC4C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387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E3B"/>
          </a:solidFill>
          <a:ln xmlns:a="http://schemas.openxmlformats.org/drawingml/2006/main" w="0">
            <a:solidFill>
              <a:srgbClr val="B84E3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36C392-F0FD-4B1D-8661-7F5953E4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10150"/>
            <a:ext cx="411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첫 회의에서 필요한 결론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421944-6261-49AF-80D7-4E925826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14950"/>
            <a:ext cx="411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국가별 필수 패키지 동의, 예외 티켓 승인자 지정, 통합 요청 시트 외 요청 반려 원칙 승인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A21389-3149-4139-BE43-8579E2AE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431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17211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A8778D-B169-44F5-A01A-6BD81326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운영 원칙은 간단합니다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C38B84-98E8-4BC6-9823-6336D9E9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표준은 빠르게</a:t>
            </a:r>
          </a:p>
          <a:p xmlns:a="http://schemas.openxmlformats.org/drawingml/2006/main">
            <a:pPr algn="ctr">
              <a:defRPr sz="14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예외는 증명하게</a:t>
            </a:r>
          </a:p>
          <a:p xmlns:a="http://schemas.openxmlformats.org/drawingml/2006/main">
            <a:pPr algn="ctr">
              <a:defRPr sz="14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211D"/>
                </a:solidFill>
                <a:latin typeface="Apple SD Gothic Neo"/>
                <a:ea typeface="Apple SD Gothic Neo"/>
                <a:cs typeface="Apple SD Gothic Neo"/>
              </a:rPr>
              <a:t>개인 옵션은 막는다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8BD48A-0C6D-4BFD-8671-6BC7F36E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3"/>
          </a:solidFill>
          <a:ln xmlns:a="http://schemas.openxmlformats.org/drawingml/2006/main" w="0">
            <a:solidFill>
              <a:srgbClr val="D7DBD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F1FC32-4C3A-4331-B4A2-3D057AE7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Source: Dashboard, Supabase, Google Sheet (2026.05.13)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3530B4-69C2-4179-83C1-C6C1D2FC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68716D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43708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2026-05-13T06:38:19.8680000Z</dcterms:created>
  <dcterms:modified xsi:type="dcterms:W3CDTF">2026-05-13T06:38:19.8680000Z</dcterms:modified>
</coreProperties>
</file>